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8"/>
  </p:notes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68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FE648B-3F50-4C04-B3BC-3BAF618C1A43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461934-F303-4EB7-B8F6-D8364FC5774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21E9B-8A86-4C0B-A166-586F4A999CB9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6B88-E156-4BFD-80CF-E9B7FAC1F171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8D5F-C3BF-427B-B5A1-A556821339CB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CDA16-7AA1-455F-BB8D-2640DBE0C8B8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4B11-C8F7-4D28-94E0-78C9A449EE7C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E65AD-8F2A-40C9-B729-6331E69EC3DB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532D5-806E-4D08-A513-FAD507E10B60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6D30-F3DF-4A44-A2EA-9B9B8EB73098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6EC1-232C-4875-AD6F-901091F0E0A8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EDB0C-BA34-4E1D-9199-671B35D178C6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342FB-3F69-4867-9702-AFDBB7F33905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1. </a:t>
            </a:r>
            <a:r>
              <a:rPr lang="en-US" dirty="0" smtClean="0">
                <a:solidFill>
                  <a:schemeClr val="bg1"/>
                </a:solidFill>
              </a:rPr>
              <a:t>When Coal Plants Shut Down, What Happens Next?</a:t>
            </a:r>
            <a:endParaRPr lang="en-US" b="1" dirty="0" smtClean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IN" sz="3400" dirty="0" smtClean="0">
                <a:solidFill>
                  <a:schemeClr val="bg1"/>
                </a:solidFill>
                <a:latin typeface="+mj-lt"/>
              </a:rPr>
              <a:t>Topic </a:t>
            </a:r>
            <a:r>
              <a:rPr lang="en-IN" sz="3400" dirty="0" smtClean="0">
                <a:solidFill>
                  <a:schemeClr val="bg1"/>
                </a:solidFill>
                <a:latin typeface="+mj-lt"/>
              </a:rPr>
              <a:t>5</a:t>
            </a:r>
            <a:r>
              <a:rPr lang="en-IN" sz="3400" dirty="0" smtClean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3400" dirty="0" smtClean="0">
                <a:solidFill>
                  <a:schemeClr val="bg1"/>
                </a:solidFill>
                <a:latin typeface="+mj-lt"/>
              </a:rPr>
              <a:t>When Coal Plants Shut Down</a:t>
            </a:r>
          </a:p>
          <a:p>
            <a:pPr algn="l"/>
            <a:r>
              <a:rPr lang="en-IN" sz="3400" dirty="0" smtClean="0">
                <a:solidFill>
                  <a:schemeClr val="bg1"/>
                </a:solidFill>
                <a:latin typeface="+mj-lt"/>
              </a:rPr>
              <a:t>Chapter 1. Business Basics.</a:t>
            </a:r>
            <a:br>
              <a:rPr lang="en-IN" sz="3400" dirty="0" smtClean="0">
                <a:solidFill>
                  <a:schemeClr val="bg1"/>
                </a:solidFill>
                <a:latin typeface="+mj-lt"/>
              </a:rPr>
            </a:br>
            <a:r>
              <a:rPr lang="en-IN" sz="3400" dirty="0" smtClean="0">
                <a:solidFill>
                  <a:schemeClr val="bg1"/>
                </a:solidFill>
                <a:latin typeface="+mj-lt"/>
              </a:rPr>
              <a:t>Unit 1. The Context of Business.</a:t>
            </a:r>
            <a:endParaRPr lang="en-US" sz="3400" dirty="0" smtClean="0">
              <a:solidFill>
                <a:schemeClr val="bg1"/>
              </a:solidFill>
              <a:latin typeface="+mj-lt"/>
            </a:endParaRPr>
          </a:p>
          <a:p>
            <a:pPr algn="l"/>
            <a:r>
              <a:rPr lang="en-US" sz="3400" dirty="0" smtClean="0">
                <a:solidFill>
                  <a:schemeClr val="bg1"/>
                </a:solidFill>
                <a:latin typeface="+mj-lt"/>
              </a:rPr>
              <a:t>MXA101 – Introduction To Business</a:t>
            </a:r>
          </a:p>
          <a:p>
            <a:pPr algn="r"/>
            <a:r>
              <a:rPr lang="en-US" dirty="0" smtClean="0">
                <a:solidFill>
                  <a:schemeClr val="bg1"/>
                </a:solidFill>
              </a:rPr>
              <a:t>-By </a:t>
            </a:r>
            <a:r>
              <a:rPr lang="en-US" dirty="0" err="1" smtClean="0">
                <a:solidFill>
                  <a:schemeClr val="bg1"/>
                </a:solidFill>
              </a:rPr>
              <a:t>ManageX</a:t>
            </a:r>
            <a:r>
              <a:rPr lang="en-US" dirty="0" smtClean="0">
                <a:solidFill>
                  <a:schemeClr val="bg1"/>
                </a:solidFill>
              </a:rPr>
              <a:t> Academy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79CF6-6316-4F25-B762-1AA6C86FF190}" type="datetime1">
              <a:rPr lang="en-US" smtClean="0"/>
              <a:pPr/>
              <a:t>1/11/2026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@</a:t>
            </a:r>
            <a:r>
              <a:rPr lang="en-US" dirty="0" err="1" smtClean="0"/>
              <a:t>ManageXAcademy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When Coal Power Plants Shut Down – The Business Question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860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Decline of coal-based power generation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Environmental, economic, and social implications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Shutdowns as a strategic business transition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Key question: What happens to these assets next?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3886200"/>
            <a:ext cx="7985584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Why Are Coal Plants Being </a:t>
            </a:r>
            <a:r>
              <a:rPr lang="en-US" b="1" dirty="0" smtClean="0">
                <a:solidFill>
                  <a:schemeClr val="bg1"/>
                </a:solidFill>
              </a:rPr>
              <a:t>Closed?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Aging infrastructure and high operating costs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Environmental and health concerns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Shift toward cleaner energy sources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Regulatory and public pressure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Location Matters – Urban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Remote Plants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Older plants located near cities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Impact on dense residential areas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High land value and redevelopment potential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Community expectations after closure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Stakeholders Affected by Plant </a:t>
            </a:r>
            <a:r>
              <a:rPr lang="en-US" b="1" dirty="0" smtClean="0">
                <a:solidFill>
                  <a:schemeClr val="bg1"/>
                </a:solidFill>
              </a:rPr>
              <a:t>Closures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Local residents and communities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Employees and contract workers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Government and regulators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Power companies and investors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The Business Risk of Abandoned Industrial Sites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Idle sites turning into </a:t>
            </a:r>
            <a:r>
              <a:rPr lang="en-US" dirty="0" err="1" smtClean="0">
                <a:solidFill>
                  <a:schemeClr val="bg1"/>
                </a:solidFill>
              </a:rPr>
              <a:t>brownfields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Environmental uncertainty and liability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Loss of economic value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Reputation risk for companies</a:t>
            </a:r>
          </a:p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1828800"/>
            <a:ext cx="4233215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Environmental Due Diligence After Shutdown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Need for site assessment and testing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Soil, groundwater, and material risks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Importance of early remediation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Accountability of current owners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91000" y="1676400"/>
            <a:ext cx="4726014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Regulatory Responsibility After Closure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Compliance with environmental laws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Monitoring and cleanup obligations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Financial risk of delayed action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Shared responsibility between business and government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Redevelopment Opportunities – From Liability to Asset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9624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Conversion into public parks and green spaces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Commercial and mixed-use development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Cultural or historical preservation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Infrastructure reuse potential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14800" y="2057400"/>
            <a:ext cx="4572000" cy="3878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Clean Energy Transition on Old Sites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Solar power installations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Wind energy (location-dependent)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Biomass and alternative fuels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Grid connectivity advantage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962400"/>
            <a:ext cx="4991100" cy="210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Business Feasibility of Energy Conversion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Cost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benefit analysis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Technology limitations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Market demand and policy incentives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some conversions fail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Environmental Risks of the Past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Legacy contamination concerns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Long-term impact of historical operations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Importance of transparency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Learning from past industrial mistakes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4114800"/>
            <a:ext cx="5172075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Community-Centric Redevelopment Strategy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Moral responsibility toward affected residents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Inclusion of local voices in planning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Social value creation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Long-term trust building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Strategic Lessons for Businesses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Closure is not the end of responsibility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Environmental planning is a leadership task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Sustainable transition protects brand value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Responsible exit strategies matter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Key Takeaways for Managers &amp; Leaders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860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Energy transition is inevitable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Business decisions have long-term social impact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Responsible redevelopment creates win-win outcomes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Future leaders must balance profit and purpose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3962400"/>
            <a:ext cx="7391400" cy="2433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026" name="Picture 2" descr="D:\ManageX Academy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0"/>
            <a:ext cx="6477000" cy="6477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791</TotalTime>
  <Words>435</Words>
  <Application>Microsoft Office PowerPoint</Application>
  <PresentationFormat>On-screen Show (4:3)</PresentationFormat>
  <Paragraphs>123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1. When Coal Plants Shut Down, What Happens Next?</vt:lpstr>
      <vt:lpstr>When Coal Power Plants Shut Down – The Business Question</vt:lpstr>
      <vt:lpstr>Why Are Coal Plants Being Closed?</vt:lpstr>
      <vt:lpstr>Location Matters – Urban vs Remote Plants</vt:lpstr>
      <vt:lpstr>Stakeholders Affected by Plant Closures</vt:lpstr>
      <vt:lpstr>The Business Risk of Abandoned Industrial Sites</vt:lpstr>
      <vt:lpstr>Environmental Due Diligence After Shutdown</vt:lpstr>
      <vt:lpstr>Regulatory Responsibility After Closure</vt:lpstr>
      <vt:lpstr>Redevelopment Opportunities – From Liability to Asset</vt:lpstr>
      <vt:lpstr>Clean Energy Transition on Old Sites</vt:lpstr>
      <vt:lpstr>Business Feasibility of Energy Conversion</vt:lpstr>
      <vt:lpstr>Environmental Risks of the Past</vt:lpstr>
      <vt:lpstr>Community-Centric Redevelopment Strategy</vt:lpstr>
      <vt:lpstr>Strategic Lessons for Businesses</vt:lpstr>
      <vt:lpstr>Key Takeaways for Managers &amp; Leaders</vt:lpstr>
      <vt:lpstr>Slide 16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81</cp:revision>
  <dcterms:created xsi:type="dcterms:W3CDTF">2006-08-16T00:00:00Z</dcterms:created>
  <dcterms:modified xsi:type="dcterms:W3CDTF">2026-01-11T13:37:29Z</dcterms:modified>
</cp:coreProperties>
</file>