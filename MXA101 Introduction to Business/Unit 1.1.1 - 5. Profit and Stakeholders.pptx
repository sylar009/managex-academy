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19"/>
  </p:notesMasterIdLst>
  <p:sldIdLst>
    <p:sldId id="256" r:id="rId2"/>
    <p:sldId id="269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81" r:id="rId15"/>
    <p:sldId id="282" r:id="rId16"/>
    <p:sldId id="283" r:id="rId17"/>
    <p:sldId id="268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1061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FE648B-3F50-4C04-B3BC-3BAF618C1A43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461934-F303-4EB7-B8F6-D8364FC5774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21E9B-8A86-4C0B-A166-586F4A999CB9}" type="datetime1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66B88-E156-4BFD-80CF-E9B7FAC1F171}" type="datetime1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E8D5F-C3BF-427B-B5A1-A556821339CB}" type="datetime1">
              <a:rPr lang="en-US" smtClean="0"/>
              <a:pPr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CDA16-7AA1-455F-BB8D-2640DBE0C8B8}" type="datetime1">
              <a:rPr lang="en-US" smtClean="0"/>
              <a:pPr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04B11-C8F7-4D28-94E0-78C9A449EE7C}" type="datetime1">
              <a:rPr lang="en-US" smtClean="0"/>
              <a:pPr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E65AD-8F2A-40C9-B729-6331E69EC3DB}" type="datetime1">
              <a:rPr lang="en-US" smtClean="0"/>
              <a:pPr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532D5-806E-4D08-A513-FAD507E10B60}" type="datetime1">
              <a:rPr lang="en-US" smtClean="0"/>
              <a:pPr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96D30-F3DF-4A44-A2EA-9B9B8EB73098}" type="datetime1">
              <a:rPr lang="en-US" smtClean="0"/>
              <a:pPr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26EC1-232C-4875-AD6F-901091F0E0A8}" type="datetime1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EDB0C-BA34-4E1D-9199-671B35D178C6}" type="datetime1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4342FB-3F69-4867-9702-AFDBB7F33905}" type="datetime1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5. Profit and Stakeholders</a:t>
            </a:r>
            <a:endParaRPr lang="en-US" b="1" dirty="0" smtClean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pPr algn="l"/>
            <a:r>
              <a:rPr lang="en-IN" sz="3400" dirty="0" smtClean="0">
                <a:solidFill>
                  <a:schemeClr val="bg1"/>
                </a:solidFill>
                <a:latin typeface="+mj-lt"/>
              </a:rPr>
              <a:t>Topic 1. </a:t>
            </a:r>
            <a:r>
              <a:rPr lang="en-US" sz="3400" dirty="0" smtClean="0">
                <a:solidFill>
                  <a:schemeClr val="bg1"/>
                </a:solidFill>
                <a:latin typeface="+mj-lt"/>
              </a:rPr>
              <a:t>What is a Business?</a:t>
            </a:r>
          </a:p>
          <a:p>
            <a:pPr algn="l"/>
            <a:r>
              <a:rPr lang="en-IN" sz="3400" dirty="0" smtClean="0">
                <a:solidFill>
                  <a:schemeClr val="bg1"/>
                </a:solidFill>
                <a:latin typeface="+mj-lt"/>
              </a:rPr>
              <a:t>Chapter 1. Business Basics.</a:t>
            </a:r>
            <a:br>
              <a:rPr lang="en-IN" sz="3400" dirty="0" smtClean="0">
                <a:solidFill>
                  <a:schemeClr val="bg1"/>
                </a:solidFill>
                <a:latin typeface="+mj-lt"/>
              </a:rPr>
            </a:br>
            <a:r>
              <a:rPr lang="en-IN" sz="3400" dirty="0" smtClean="0">
                <a:solidFill>
                  <a:schemeClr val="bg1"/>
                </a:solidFill>
                <a:latin typeface="+mj-lt"/>
              </a:rPr>
              <a:t>Unit 1. The Context of Business.</a:t>
            </a:r>
            <a:endParaRPr lang="en-US" sz="3400" dirty="0" smtClean="0">
              <a:solidFill>
                <a:schemeClr val="bg1"/>
              </a:solidFill>
              <a:latin typeface="+mj-lt"/>
            </a:endParaRPr>
          </a:p>
          <a:p>
            <a:pPr algn="l"/>
            <a:r>
              <a:rPr lang="en-US" sz="3400" dirty="0" smtClean="0">
                <a:solidFill>
                  <a:schemeClr val="bg1"/>
                </a:solidFill>
                <a:latin typeface="+mj-lt"/>
              </a:rPr>
              <a:t>MXA101 – Introduction To Business</a:t>
            </a:r>
          </a:p>
          <a:p>
            <a:pPr algn="r"/>
            <a:r>
              <a:rPr lang="en-US" dirty="0" smtClean="0">
                <a:solidFill>
                  <a:schemeClr val="bg1"/>
                </a:solidFill>
              </a:rPr>
              <a:t>-By </a:t>
            </a:r>
            <a:r>
              <a:rPr lang="en-US" dirty="0" err="1" smtClean="0">
                <a:solidFill>
                  <a:schemeClr val="bg1"/>
                </a:solidFill>
              </a:rPr>
              <a:t>ManageX</a:t>
            </a:r>
            <a:r>
              <a:rPr lang="en-US" dirty="0" smtClean="0">
                <a:solidFill>
                  <a:schemeClr val="bg1"/>
                </a:solidFill>
              </a:rPr>
              <a:t> Academy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79CF6-6316-4F25-B762-1AA6C86FF190}" type="datetime1">
              <a:rPr lang="en-US" smtClean="0"/>
              <a:pPr/>
              <a:t>1/6/2026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@</a:t>
            </a:r>
            <a:r>
              <a:rPr lang="en-US" dirty="0" err="1" smtClean="0"/>
              <a:t>ManageXAcademy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What is a Stakeholder?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3622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Any individual or group with interest in the business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Can affect or be affected by business outcomes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Internal and external stakeholders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Essential for organizational success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2600" y="3886200"/>
            <a:ext cx="5791200" cy="23781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Stockholders </a:t>
            </a:r>
            <a:r>
              <a:rPr lang="en-US" b="1" dirty="0" err="1" smtClean="0">
                <a:solidFill>
                  <a:schemeClr val="bg1"/>
                </a:solidFill>
              </a:rPr>
              <a:t>vs</a:t>
            </a:r>
            <a:r>
              <a:rPr lang="en-US" b="1" dirty="0" smtClean="0">
                <a:solidFill>
                  <a:schemeClr val="bg1"/>
                </a:solidFill>
              </a:rPr>
              <a:t> Stakeholders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209800"/>
          </a:xfrm>
        </p:spPr>
        <p:txBody>
          <a:bodyPr>
            <a:normAutofit lnSpcReduction="1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Stockholders are company owners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Stakeholders include all affected parties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Ownership </a:t>
            </a:r>
            <a:r>
              <a:rPr lang="en-US" dirty="0" err="1" smtClean="0">
                <a:solidFill>
                  <a:schemeClr val="bg1"/>
                </a:solidFill>
              </a:rPr>
              <a:t>vs</a:t>
            </a:r>
            <a:r>
              <a:rPr lang="en-US" dirty="0" smtClean="0">
                <a:solidFill>
                  <a:schemeClr val="bg1"/>
                </a:solidFill>
              </a:rPr>
              <a:t> interest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Profit </a:t>
            </a:r>
            <a:r>
              <a:rPr lang="en-US" dirty="0" err="1" smtClean="0">
                <a:solidFill>
                  <a:schemeClr val="bg1"/>
                </a:solidFill>
              </a:rPr>
              <a:t>vs</a:t>
            </a:r>
            <a:r>
              <a:rPr lang="en-US" dirty="0" smtClean="0">
                <a:solidFill>
                  <a:schemeClr val="bg1"/>
                </a:solidFill>
              </a:rPr>
              <a:t> responsibility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00200" y="3810000"/>
            <a:ext cx="6176963" cy="2501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Fiduciary Duty Explained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Legal and ethical responsibility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Duty of trust and care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Managers act on behalf of owners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Focus on long-term value creation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Traditional Profit-Centered View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Focus on stockholders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Profit maximization priority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Limited stakeholder scope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Short-term performance driven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Stakeholder Theory – Modern View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Business serves multiple interests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Long-term sustainability focus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Balanced decision-making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Ethical and social responsibility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Who Are the Key </a:t>
            </a:r>
            <a:r>
              <a:rPr lang="en-US" b="1" dirty="0" smtClean="0">
                <a:solidFill>
                  <a:schemeClr val="bg1"/>
                </a:solidFill>
              </a:rPr>
              <a:t>Stakeholders?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Customers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Employees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Suppliers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Investors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Government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Community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Business partners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Even Competitors as Stakeholders?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Industry standards impact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Ethical competition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Market stability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Regulatory influence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Market </a:t>
            </a:r>
            <a:r>
              <a:rPr lang="en-US" b="1" dirty="0" err="1" smtClean="0">
                <a:solidFill>
                  <a:schemeClr val="bg1"/>
                </a:solidFill>
              </a:rPr>
              <a:t>vs</a:t>
            </a:r>
            <a:r>
              <a:rPr lang="en-US" b="1" dirty="0" smtClean="0">
                <a:solidFill>
                  <a:schemeClr val="bg1"/>
                </a:solidFill>
              </a:rPr>
              <a:t> Non-Market Stakeholders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1336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Market stakeholders: direct transactions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Customers, employees, suppliers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Non-market stakeholders: indirect impact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Community, media, activists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0" y="3657600"/>
            <a:ext cx="7010400" cy="27427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Stakeholders and Corporate Responsibility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Focus beyond profit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Ethical operations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Social responsibility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Sustainable growth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Profit </a:t>
            </a:r>
            <a:r>
              <a:rPr lang="en-US" b="1" dirty="0" err="1" smtClean="0">
                <a:solidFill>
                  <a:schemeClr val="bg1"/>
                </a:solidFill>
              </a:rPr>
              <a:t>vs</a:t>
            </a:r>
            <a:r>
              <a:rPr lang="en-US" b="1" dirty="0" smtClean="0">
                <a:solidFill>
                  <a:schemeClr val="bg1"/>
                </a:solidFill>
              </a:rPr>
              <a:t> Stakeholder Satisfaction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114800" cy="45259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Short-term profit trade-offs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Long-term trust building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Reputation management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Risk reduction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33800" y="2133600"/>
            <a:ext cx="4978400" cy="2887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Why Stakeholder Approach Creates Value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Strong brand image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Customer loyalty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Employee retention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Reduced legal and reputational risk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Real-Life Business Example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Employee welfare initiatives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Community engagement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Ethical sourcing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Long-term brand growth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Stakeholders, Profit &amp; Strategy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Strategic decision-making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Trade-off analysis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Long-term planning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Sustainable competitive advantage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3962400"/>
            <a:ext cx="7666778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Key Takeaways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267200" cy="45259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Stakeholders shape business success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Profit alone is not enough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Responsibility builds sustainability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Value comes from balance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43400" y="1981200"/>
            <a:ext cx="4528487" cy="327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Conclusion 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Business is a stakeholder ecosystem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Long-term thinking wins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Learn management the right way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DBD3B-A116-4868-894D-64A26E43E01C}" type="datetime1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@ManageXAcademy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1026" name="Picture 2" descr="D:\ManageX Academy\YouTube Icon Images and Videos\vecteezy_subscribe-button-collection-png-design-subscribe-button_13473771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1600" y="0"/>
            <a:ext cx="6477000" cy="6477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797</TotalTime>
  <Words>346</Words>
  <Application>Microsoft Office PowerPoint</Application>
  <PresentationFormat>On-screen Show (4:3)</PresentationFormat>
  <Paragraphs>133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5. Profit and Stakeholders</vt:lpstr>
      <vt:lpstr>What is a Stakeholder?</vt:lpstr>
      <vt:lpstr>Stockholders vs Stakeholders</vt:lpstr>
      <vt:lpstr>Fiduciary Duty Explained</vt:lpstr>
      <vt:lpstr>Traditional Profit-Centered View</vt:lpstr>
      <vt:lpstr>Stakeholder Theory – Modern View</vt:lpstr>
      <vt:lpstr>Who Are the Key Stakeholders?</vt:lpstr>
      <vt:lpstr>Even Competitors as Stakeholders?</vt:lpstr>
      <vt:lpstr>Market vs Non-Market Stakeholders</vt:lpstr>
      <vt:lpstr>Stakeholders and Corporate Responsibility</vt:lpstr>
      <vt:lpstr>Profit vs Stakeholder Satisfaction</vt:lpstr>
      <vt:lpstr>Why Stakeholder Approach Creates Value</vt:lpstr>
      <vt:lpstr>Real-Life Business Example</vt:lpstr>
      <vt:lpstr>Stakeholders, Profit &amp; Strategy</vt:lpstr>
      <vt:lpstr>Key Takeaways</vt:lpstr>
      <vt:lpstr>Conclusion </vt:lpstr>
      <vt:lpstr>Slide 17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Sanyam Lawania</dc:creator>
  <cp:lastModifiedBy>Sanyam Lawania</cp:lastModifiedBy>
  <cp:revision>83</cp:revision>
  <dcterms:created xsi:type="dcterms:W3CDTF">2006-08-16T00:00:00Z</dcterms:created>
  <dcterms:modified xsi:type="dcterms:W3CDTF">2026-01-06T12:19:17Z</dcterms:modified>
</cp:coreProperties>
</file>